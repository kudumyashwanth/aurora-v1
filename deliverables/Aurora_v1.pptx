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3A7"/>
                </a:solidFill>
                <a:latin typeface="Calibri"/>
              </a:rPr>
              <a:t>RISC-V  ·  TENSOR ACCELERATOR  ·  AXI4  ·  SKY130B  ·  RTL → GDSII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6EDF3"/>
                </a:solidFill>
                <a:latin typeface="Calibri"/>
              </a:rPr>
              <a:t>Aurora v1 — AI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FB3C8"/>
                </a:solidFill>
                <a:latin typeface="Calibri"/>
              </a:rPr>
              <a:t>A complete System-on-Chip taken from RTL to a signed-off GDSII layout —</a:t>
            </a:r>
          </a:p>
          <a:p>
            <a:pPr algn="l"/>
            <a:r>
              <a:rPr sz="2200" b="0">
                <a:solidFill>
                  <a:srgbClr val="9FB3C8"/>
                </a:solidFill>
                <a:latin typeface="Calibri"/>
              </a:rPr>
              <a:t>open-source tools only, on a single 23 GB laptop.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3C8"/>
                </a:solidFill>
                <a:latin typeface="Calibri"/>
              </a:rPr>
              <a:t>Yashwanth Kudum   ·   github.com/kudumyashwanth/aurora-v1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D3A7"/>
                </a:solidFill>
                <a:latin typeface="Calibri"/>
              </a:rPr>
              <a:t>What is Aurora v1?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Multi-clock AI SoC: a 64-bit RISC-V core + a hardware matrix-multiply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accelerator over a coherent-terminated AXI4 fabric.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•  Rocket RV64IMAC CPU tile — hardened macro, 33 MHz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•  4×4 systolic tensor engine (int16) — hardened macro, 50 MHz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•  8×8 AXI4 crossbar + dual async clock-domain bridges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•  UART · GPIO · timer · interrupt ctrl · boot ROM · SRAM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Carried through the ENTIRE flow: RTL → lint → sim → formal →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synthesis → floorplan → place → CTS → route → DRC → LVS → GDSII.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3A7"/>
                </a:solidFill>
                <a:latin typeface="Calibri"/>
              </a:rPr>
              <a:t>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121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FB3C8"/>
                </a:solidFill>
                <a:latin typeface="Calibri"/>
              </a:rPr>
              <a:t>RTL→GDSII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697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3A7"/>
                </a:solidFill>
                <a:latin typeface="Calibri"/>
              </a:rPr>
              <a:t>137,562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264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FB3C8"/>
                </a:solidFill>
                <a:latin typeface="Calibri"/>
              </a:rPr>
              <a:t>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3A7"/>
                </a:solidFill>
                <a:latin typeface="Calibri"/>
              </a:rPr>
              <a:t>41.25 mm²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407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FB3C8"/>
                </a:solidFill>
                <a:latin typeface="Calibri"/>
              </a:rPr>
              <a:t>Die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983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3A7"/>
                </a:solidFill>
                <a:latin typeface="Calibri"/>
              </a:rPr>
              <a:t>33 / 50 MHz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550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FB3C8"/>
                </a:solidFill>
                <a:latin typeface="Calibri"/>
              </a:rPr>
              <a:t>Clocks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3A7"/>
                </a:solidFill>
                <a:latin typeface="Calibri"/>
              </a:rPr>
              <a:t>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332720" cy="65111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3A7"/>
                </a:solidFill>
                <a:latin typeface="Calibri"/>
              </a:rPr>
              <a:t>Full-Chip Layout</a:t>
            </a:r>
          </a:p>
        </p:txBody>
      </p:sp>
      <p:pic>
        <p:nvPicPr>
          <p:cNvPr id="5" name="Picture 4" descr="chip_floor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097280"/>
            <a:ext cx="7315200" cy="5743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1031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Rendered from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the actual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placement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database —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130.5k glue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cells + 2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hard macros.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3A7"/>
                </a:solidFill>
                <a:latin typeface="Calibri"/>
              </a:rPr>
              <a:t>Sign-off Results</a:t>
            </a:r>
          </a:p>
        </p:txBody>
      </p:sp>
      <p:pic>
        <p:nvPicPr>
          <p:cNvPr id="5" name="Picture 4" descr="resul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88720"/>
            <a:ext cx="10149840" cy="6947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3A7"/>
                </a:solidFill>
                <a:latin typeface="Calibri"/>
              </a:rPr>
              <a:t>It Boots — Functional Verification</a:t>
            </a:r>
          </a:p>
        </p:txBody>
      </p:sp>
      <p:pic>
        <p:nvPicPr>
          <p:cNvPr id="5" name="Picture 4" descr="boot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234440"/>
            <a:ext cx="7406640" cy="4350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19456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Full-SoC sim: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Rocket boots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through the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real fabric,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drives the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tensor core,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reads result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over AXI.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Zero traps.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D3A7"/>
                </a:solidFill>
                <a:latin typeface="Calibri"/>
              </a:rPr>
              <a:t>Engineering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■  Cracked a routing-congestion wall on the dense systolic datapath —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     diagnosed a metal-1 short-storm, beat it with a soft layer-derate.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■  Hardened a RISC-V tile as an AXI macro — re-wrapped Rocket's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     TileLink-C port through a cache cork + TL-to-AXI4 bridge (Chisel).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■  Closed multi-clock timing — moved the FPU/divider-bound CPU path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     to RV64IMAC @ 33 MHz; accelerator + fabric @ 50 MHz, async-bridged.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■  Full-chip PDN + LVS integration — root-caused power-grid fragmentation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     to a dual-layer-power macro; fixed with a PDN keep-out → clean device-match.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■  Memory-bounded P&amp;R — entire flow capped at 18 GB to survive a 23 GB host.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E6EDF3"/>
                </a:solidFill>
                <a:latin typeface="Calibri"/>
              </a:rPr>
              <a:t>RTL to silicon —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FB3C8"/>
                </a:solidFill>
                <a:latin typeface="Calibri"/>
              </a:rPr>
              <a:t>A full RISC-V + tensor AI SoC, signed off to GDSII on commodity</a:t>
            </a:r>
          </a:p>
          <a:p>
            <a:pPr algn="l"/>
            <a:r>
              <a:rPr sz="2200" b="0">
                <a:solidFill>
                  <a:srgbClr val="9FB3C8"/>
                </a:solidFill>
                <a:latin typeface="Calibri"/>
              </a:rPr>
              <a:t>hardware with open tools. Timing MET · DRC 1 · LVS device-match.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3A7"/>
                </a:solidFill>
                <a:latin typeface="Calibri"/>
              </a:rPr>
              <a:t>github.com/kudumyashwanth/aurora-v1   ·   IP available for licensing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